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CodeSage AI is a coding-only assistant. Everything in this deck is running software,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051560"/>
            <a:ext cx="1097280" cy="1097280"/>
          </a:xfrm>
          <a:prstGeom prst="ellipse">
            <a:avLst/>
          </a:prstGeom>
          <a:solidFill>
            <a:srgbClr val="A78BFA">
              <a:alpha val="4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53212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3317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-100" kern="0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CodeSage AI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B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domain-specific coding assistant — review, debug, optimise, explain.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04672" y="4224528"/>
            <a:ext cx="1993392" cy="475488"/>
          </a:xfrm>
          <a:prstGeom prst="roundRect">
            <a:avLst>
              <a:gd name="adj" fmla="val 50000"/>
            </a:avLst>
          </a:prstGeom>
          <a:solidFill>
            <a:srgbClr val="121A38">
              <a:alpha val="75000"/>
            </a:srgbClr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422452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44368" y="4224528"/>
            <a:ext cx="1993392" cy="475488"/>
          </a:xfrm>
          <a:prstGeom prst="roundRect">
            <a:avLst>
              <a:gd name="adj" fmla="val 50000"/>
            </a:avLst>
          </a:prstGeom>
          <a:solidFill>
            <a:srgbClr val="121A38">
              <a:alpha val="75000"/>
            </a:srgbClr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422452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4064" y="4224528"/>
            <a:ext cx="1993392" cy="475488"/>
          </a:xfrm>
          <a:prstGeom prst="roundRect">
            <a:avLst>
              <a:gd name="adj" fmla="val 50000"/>
            </a:avLst>
          </a:prstGeom>
          <a:solidFill>
            <a:srgbClr val="121A38">
              <a:alpha val="75000"/>
            </a:srgbClr>
          </a:solidFill>
          <a:ln w="1397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422452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Version-aware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4224528"/>
            <a:ext cx="1993392" cy="475488"/>
          </a:xfrm>
          <a:prstGeom prst="roundRect">
            <a:avLst>
              <a:gd name="adj" fmla="val 50000"/>
            </a:avLst>
          </a:prstGeom>
          <a:solidFill>
            <a:srgbClr val="121A38">
              <a:alpha val="75000"/>
            </a:srgbClr>
          </a:solidFill>
          <a:ln w="1397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422452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63456" y="4224528"/>
            <a:ext cx="1993392" cy="475488"/>
          </a:xfrm>
          <a:prstGeom prst="roundRect">
            <a:avLst>
              <a:gd name="adj" fmla="val 50000"/>
            </a:avLst>
          </a:prstGeom>
          <a:solidFill>
            <a:srgbClr val="121A38">
              <a:alpha val="75000"/>
            </a:srgbClr>
          </a:solidFill>
          <a:ln w="1397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63456" y="422452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389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1.x  ·  Streamlit  ·  OpenAI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 Hadi Ali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a generic AI wrapper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failures that make an assistant untrustworthy for real code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83280" cy="3246120"/>
          </a:xfrm>
          <a:prstGeom prst="roundRect">
            <a:avLst>
              <a:gd name="adj" fmla="val 4507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475488" cy="475488"/>
          </a:xfrm>
          <a:prstGeom prst="ellipse">
            <a:avLst/>
          </a:prstGeom>
          <a:solidFill>
            <a:srgbClr val="F472B6">
              <a:alpha val="8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answers anything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918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model to a chat box and it will happily write a recipe. Nothing makes it a coding tool except the label on the page.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383280" cy="3246120"/>
          </a:xfrm>
          <a:prstGeom prst="roundRect">
            <a:avLst>
              <a:gd name="adj" fmla="val 4507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03120"/>
            <a:ext cx="475488" cy="475488"/>
          </a:xfrm>
          <a:prstGeom prst="ellipse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lives in the past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2918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React 19 and you get React 17 habits — forwardRef, Context.Provider — stated with total confidence. Training data is mostly old tutorials.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783080"/>
            <a:ext cx="3383280" cy="3246120"/>
          </a:xfrm>
          <a:prstGeom prst="roundRect">
            <a:avLst>
              <a:gd name="adj" fmla="val 4507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03120"/>
            <a:ext cx="475488" cy="475488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24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invents problems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918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review working code, a weak model pads the list: calls a used import unused, swaps a modern API for an older one it recognises.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was built to fix all three — and each fix is enforced in code, not just asked for in a prompt.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CodeSage AI 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GPT with a hard boundary around one domain: code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133856"/>
          </a:xfrm>
          <a:prstGeom prst="roundRect">
            <a:avLst>
              <a:gd name="adj" fmla="val 1290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475488" cy="475488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965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engineered system prompt, eight task modes, assignable expert roles, model and temperature control, conversation memory and response caching.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081528"/>
            <a:ext cx="10789920" cy="1133856"/>
          </a:xfrm>
          <a:prstGeom prst="roundRect">
            <a:avLst>
              <a:gd name="adj" fmla="val 1290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401568"/>
            <a:ext cx="475488" cy="475488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64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Domain-specific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2644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merely told to be a coding assistant — enforced as one. Off-topic questions and non-tech roles are turned away before a request is ever billed.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10789920" cy="1133856"/>
          </a:xfrm>
          <a:prstGeom prst="roundRect">
            <a:avLst>
              <a:gd name="adj" fmla="val 1290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700016"/>
            <a:ext cx="475488" cy="475488"/>
          </a:xfrm>
          <a:prstGeom prst="ellipse">
            <a:avLst/>
          </a:prstGeom>
          <a:solidFill>
            <a:srgbClr val="34D399">
              <a:alpha val="8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700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5628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562856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pack of current-version facts is injected when a stack is mentioned, so answers follow today's APIs instead of the average of old blog posts.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for a biryani recipe and it declines — politely — then lists what it can do instead.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software — animated aurora scene, glass panels, live streaming answers</a:t>
            </a:r>
            <a:endParaRPr lang="en-US" sz="1500" dirty="0"/>
          </a:p>
        </p:txBody>
      </p:sp>
      <p:pic>
        <p:nvPicPr>
          <p:cNvPr id="4" name="Image 0" descr="shot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6720840" cy="3694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783080"/>
            <a:ext cx="3749040" cy="987552"/>
          </a:xfrm>
          <a:prstGeom prst="roundRect">
            <a:avLst>
              <a:gd name="adj" fmla="val 14815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0100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18541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 API key, 11 models with guidance, caching, session stats.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26680" y="2926080"/>
            <a:ext cx="3749040" cy="987552"/>
          </a:xfrm>
          <a:prstGeom prst="roundRect">
            <a:avLst>
              <a:gd name="adj" fmla="val 14815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01000" y="3035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32841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tech personas; non-tech roles are declined.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4069080"/>
            <a:ext cx="3749040" cy="987552"/>
          </a:xfrm>
          <a:prstGeom prst="roundRect">
            <a:avLst>
              <a:gd name="adj" fmla="val 14815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01000" y="4178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panel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47141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code, drop a screenshot, or pin your stack versions.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5212080"/>
            <a:ext cx="3749040" cy="987552"/>
          </a:xfrm>
          <a:prstGeom prst="roundRect">
            <a:avLst>
              <a:gd name="adj" fmla="val 14815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01000" y="5321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bar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561441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aurora border that brightens on focus.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ways to ask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 rewrites the system prompt, so answers change shape — not just tone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057400"/>
            <a:ext cx="365760" cy="36576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953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request and picks the right shape itself.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6432" y="178308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12464" y="2057400"/>
            <a:ext cx="365760" cy="365760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953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task, get complete runnable code.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78308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3096" y="2057400"/>
            <a:ext cx="365760" cy="365760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3096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2953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walkthrough, jargon defined.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78308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53728" y="2057400"/>
            <a:ext cx="365760" cy="365760"/>
          </a:xfrm>
          <a:prstGeom prst="ellipse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53728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bugs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29535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defects, each with a failing scenario.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93192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1832" y="4206240"/>
            <a:ext cx="365760" cy="365760"/>
          </a:xfrm>
          <a:prstGeom prst="ellipse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4736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51023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version plus what actually improved.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56432" y="393192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12464" y="4206240"/>
            <a:ext cx="365760" cy="36576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12464" y="4736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712464" y="51023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approaches, and which to pick.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27064" y="393192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83096" y="4206240"/>
            <a:ext cx="365760" cy="365760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83096" y="4736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83096" y="51023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readability, security — with a verdict.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97696" y="393192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53728" y="4206240"/>
            <a:ext cx="365760" cy="365760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53728" y="4736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253728" y="51023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idiomatically between languages.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stays on topic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stages, cheapest first — most messages never cost an extra API call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83280" cy="2743200"/>
          </a:xfrm>
          <a:prstGeom prst="roundRect">
            <a:avLst>
              <a:gd name="adj" fmla="val 533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84832"/>
            <a:ext cx="475488" cy="475488"/>
          </a:xfrm>
          <a:prstGeom prst="ellipse">
            <a:avLst/>
          </a:prstGeom>
          <a:solidFill>
            <a:srgbClr val="34D399">
              <a:alpha val="8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call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944368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code, fenced blocks, stack traces, exception names and ~200 technical keywords are admitted instantly. Greetings and follow-ups pass too, so chat feels natural.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383280" cy="2743200"/>
          </a:xfrm>
          <a:prstGeom prst="roundRect">
            <a:avLst>
              <a:gd name="adj" fmla="val 533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84832"/>
            <a:ext cx="475488" cy="475488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unclear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944368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ambiguous messages go to one tiny model call that answers CODING or OTHER. Nothing else reaches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383280" cy="2743200"/>
          </a:xfrm>
          <a:prstGeom prst="roundRect">
            <a:avLst>
              <a:gd name="adj" fmla="val 533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084832"/>
            <a:ext cx="475488" cy="475488"/>
          </a:xfrm>
          <a:prstGeom prst="ellipse">
            <a:avLst/>
          </a:prstGeom>
          <a:solidFill>
            <a:srgbClr val="F472B6">
              <a:alpha val="8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not blunt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944368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questions get a warm decline that names what CodeSage can do instead — and the model is never called at all.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10789920" cy="1188720"/>
          </a:xfrm>
          <a:prstGeom prst="roundRect">
            <a:avLst>
              <a:gd name="adj" fmla="val 1230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51560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open by design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49560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classifier errors, the message is allowed through. A real coding question is never blocked because of an API hiccup — a false refusal is worse than a false pass.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 any hat — as long as it is a tech one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roles at once; non-coding roles are declined with a nearby alternative</a:t>
            </a:r>
            <a:endParaRPr lang="en-US" sz="1500" dirty="0"/>
          </a:p>
        </p:txBody>
      </p:sp>
      <p:pic>
        <p:nvPicPr>
          <p:cNvPr id="4" name="Image 0" descr="shot_ro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6858000" cy="2295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737360"/>
            <a:ext cx="3611880" cy="2852928"/>
          </a:xfrm>
          <a:prstGeom prst="roundRect">
            <a:avLst>
              <a:gd name="adj" fmla="val 512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38160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part: “engineer”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3317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signals decide — firmware, django, mern, kubernetes accept a role outright.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titles never decide — engineer, manager, consultant go to the classifier.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“electrical engineer who writes embedded firmware” is accepted — plain “electrical engineer” is not.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489204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472B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14400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3218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Legal-tech Software Engineer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489204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472B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57600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53218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Food-delivery Platform Developer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489204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472B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0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Cardiologist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53218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Health-tech Backend Developer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15400" y="489204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472B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144000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53218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Robotics &amp; Simulation Engineer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knows about today's versions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 stack and current-version facts are injected as authoritative context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423160"/>
          </a:xfrm>
          <a:prstGeom prst="roundRect">
            <a:avLst>
              <a:gd name="adj" fmla="val 603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472B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grounding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forwardRef to pass a ref”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“Wrap it in Context.Provider”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defaultProps for the fallback”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were removed or replaced in React 19 — and stated with total confidence.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57800" cy="2423160"/>
          </a:xfrm>
          <a:prstGeom prst="roundRect">
            <a:avLst>
              <a:gd name="adj" fmla="val 603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version pack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 is a normal prop — forwardRef is no longer needed”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“Render &lt;Context&gt; directly as the provider”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“cookies() is async in Next 15; fetch is no longer cached”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stacks covered, from React and Next.js to Django, Svelte and LangChain itself.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526280"/>
            <a:ext cx="3383280" cy="1417320"/>
          </a:xfrm>
          <a:prstGeom prst="roundRect">
            <a:avLst>
              <a:gd name="adj" fmla="val 1032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your stack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0474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“React 19, Next.js 15” and those versions become the target.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4526280"/>
            <a:ext cx="3383280" cy="1417320"/>
          </a:xfrm>
          <a:prstGeom prst="roundRect">
            <a:avLst>
              <a:gd name="adj" fmla="val 1032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177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Auto-detection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50474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 stack, or paste code using it, and its notes load automatically.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4526280"/>
            <a:ext cx="3383280" cy="1417320"/>
          </a:xfrm>
          <a:prstGeom prst="roundRect">
            <a:avLst>
              <a:gd name="adj" fmla="val 10323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753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grounding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50474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pinned line shows which version notes are in play, so it is never invisible.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in: type, paste, or talk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retyping a stack trace from a screenshot is nobody's idea of help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486400" cy="2487168"/>
          </a:xfrm>
          <a:prstGeom prst="roundRect">
            <a:avLst>
              <a:gd name="adj" fmla="val 5882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screenshot</a:t>
            </a:r>
            <a:endParaRPr lang="en-US" sz="1600" dirty="0"/>
          </a:p>
        </p:txBody>
      </p:sp>
      <p:pic>
        <p:nvPicPr>
          <p:cNvPr id="6" name="Image 0" descr="shot_pas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86000"/>
            <a:ext cx="4937760" cy="1691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737360"/>
            <a:ext cx="5029200" cy="2487168"/>
          </a:xfrm>
          <a:prstGeom prst="roundRect">
            <a:avLst>
              <a:gd name="adj" fmla="val 5882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472B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20840" y="18745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say it out loud</a:t>
            </a:r>
            <a:endParaRPr lang="en-US" sz="1600" dirty="0"/>
          </a:p>
        </p:txBody>
      </p:sp>
      <p:pic>
        <p:nvPicPr>
          <p:cNvPr id="9" name="Image 1" descr="shot_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286000"/>
            <a:ext cx="3566160" cy="17922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4206240"/>
            <a:ext cx="3383280" cy="1783080"/>
          </a:xfrm>
          <a:prstGeom prst="roundRect">
            <a:avLst>
              <a:gd name="adj" fmla="val 8205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60120" y="4389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Clipboard paste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473659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st.file_uploader cannot accept a paste, so a small custom component catches the event and returns the image — no npm build, no extra package.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43400" y="4206240"/>
            <a:ext cx="3383280" cy="1783080"/>
          </a:xfrm>
          <a:prstGeom prst="roundRect">
            <a:avLst>
              <a:gd name="adj" fmla="val 8205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617720" y="4389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reading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73659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read out of the image at high detail and transcribed back into a fenced block, so you copy the fix instead of retyping it.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01000" y="4206240"/>
            <a:ext cx="3383280" cy="1783080"/>
          </a:xfrm>
          <a:prstGeom prst="roundRect">
            <a:avLst>
              <a:gd name="adj" fmla="val 8205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275320" y="4389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vocabulary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473659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models mangle code terms. A vocabulary prompt biases the transcript, so “useEffect” does not come back as “use effect”.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for trust, not just answers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below exists because something actually went wrong in testing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03520" cy="1691640"/>
          </a:xfrm>
          <a:prstGeom prst="roundRect">
            <a:avLst>
              <a:gd name="adj" fmla="val 864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57400"/>
            <a:ext cx="420624" cy="420624"/>
          </a:xfrm>
          <a:prstGeom prst="ellipse">
            <a:avLst/>
          </a:prstGeom>
          <a:solidFill>
            <a:srgbClr val="34D399">
              <a:alpha val="8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39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first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opens with “No real bugs found” or “N issues found”. An issue only counts if it can name the inputs that make the code misbehave.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1691640"/>
          </a:xfrm>
          <a:prstGeom prst="roundRect">
            <a:avLst>
              <a:gd name="adj" fmla="val 864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2057400"/>
            <a:ext cx="420624" cy="420624"/>
          </a:xfrm>
          <a:prstGeom prst="ellipse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39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regress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68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call an API invalid unless certain; do not swap a modern call for an older familiar one. Check the replacement returns the same shape.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5303520" cy="1691640"/>
          </a:xfrm>
          <a:prstGeom prst="roundRect">
            <a:avLst>
              <a:gd name="adj" fmla="val 864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3977640"/>
            <a:ext cx="420624" cy="42062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before claiming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89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 an import unused without scanning the file. Never call a signature wrong when the surrounding code shows it is deliberate.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03520" cy="1691640"/>
          </a:xfrm>
          <a:prstGeom prst="roundRect">
            <a:avLst>
              <a:gd name="adj" fmla="val 8649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977640"/>
            <a:ext cx="420624" cy="420624"/>
          </a:xfrm>
          <a:prstGeom prst="ellipse">
            <a:avLst/>
          </a:prstGeom>
          <a:solidFill>
            <a:srgbClr val="F472B6">
              <a:alpha val="8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repetition loops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389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detector cuts the stream if the model gets stuck repeating itself, with a token ceiling and a frequency penalty behind 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10789920" cy="777240"/>
          </a:xfrm>
          <a:prstGeom prst="roundRect">
            <a:avLst>
              <a:gd name="adj" fmla="val 18824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51560" y="57607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model guide in the sidebar — because picking a weak model for a review is the single biggest cause of a bad answer.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flows through it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3385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1.x with LCEL — prompt | llm | parser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965960" cy="960120"/>
          </a:xfrm>
          <a:prstGeom prst="roundRect">
            <a:avLst>
              <a:gd name="adj" fmla="val 1523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42616" y="182880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35224" y="1828800"/>
            <a:ext cx="1965960" cy="960120"/>
          </a:xfrm>
          <a:prstGeom prst="roundRect">
            <a:avLst>
              <a:gd name="adj" fmla="val 1523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26664" y="18288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84648" y="1828800"/>
            <a:ext cx="1965960" cy="960120"/>
          </a:xfrm>
          <a:prstGeom prst="roundRect">
            <a:avLst>
              <a:gd name="adj" fmla="val 1523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34D399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76088" y="18288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41464" y="182880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34072" y="1828800"/>
            <a:ext cx="1965960" cy="960120"/>
          </a:xfrm>
          <a:prstGeom prst="roundRect">
            <a:avLst>
              <a:gd name="adj" fmla="val 1523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BBF24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25512" y="18288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90888" y="182880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83496" y="1828800"/>
            <a:ext cx="1965960" cy="960120"/>
          </a:xfrm>
          <a:prstGeom prst="roundRect">
            <a:avLst>
              <a:gd name="adj" fmla="val 15238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F472B6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74936" y="18288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answer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71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assembled at step 3 carries the role persona, the mode instruction, the language hint, current-version notes for any stack detected, your pasted code and the recent conversation.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3849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models, modes, roles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56432" y="370332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685032" y="3849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prompts.py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685032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rules + templates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27064" y="370332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55664" y="3849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chains.py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ChatOpenAI, LCEL, streaming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97696" y="370332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226296" y="3849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guard.py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Coding-only scope guard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493776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084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roles.py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394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Tech-only role validation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56432" y="493776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685032" y="5084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tech_notes.py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685032" y="5394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Current-version pack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27064" y="493776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455664" y="5084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voice.py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455664" y="5394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97696" y="4937760"/>
            <a:ext cx="2560320" cy="1051560"/>
          </a:xfrm>
          <a:prstGeom prst="roundRect">
            <a:avLst>
              <a:gd name="adj" fmla="val 13913"/>
            </a:avLst>
          </a:prstGeom>
          <a:solidFill>
            <a:srgbClr val="121A38">
              <a:alpha val="6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226296" y="5084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cache_manager.py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226296" y="5394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+ SQLite cache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in four lines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6035040" cy="2468880"/>
          </a:xfrm>
          <a:prstGeom prst="roundRect">
            <a:avLst>
              <a:gd name="adj" fmla="val 5926"/>
            </a:avLst>
          </a:prstGeom>
          <a:solidFill>
            <a:srgbClr val="060A1C">
              <a:alpha val="92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21031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-3.12 -m venv venv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.\venv\Scripts\Activate.ps1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86600" y="1783080"/>
            <a:ext cx="4389120" cy="2468880"/>
          </a:xfrm>
          <a:prstGeom prst="roundRect">
            <a:avLst>
              <a:gd name="adj" fmla="val 5926"/>
            </a:avLst>
          </a:prstGeom>
          <a:solidFill>
            <a:srgbClr val="121A38">
              <a:alpha val="78000"/>
            </a:srgbClr>
          </a:solidFill>
          <a:ln w="15875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609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just paste your key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4688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.env needed — every visitor brings their own OpenAI key in the sidebar, so a public deployment never spends the owner's credits.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4617720"/>
            <a:ext cx="2560320" cy="868680"/>
          </a:xfrm>
          <a:prstGeom prst="roundRect">
            <a:avLst>
              <a:gd name="adj" fmla="val 16842"/>
            </a:avLst>
          </a:prstGeom>
          <a:solidFill>
            <a:srgbClr val="121A38">
              <a:alpha val="80000"/>
            </a:srgbClr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617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modes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456432" y="4617720"/>
            <a:ext cx="2560320" cy="868680"/>
          </a:xfrm>
          <a:prstGeom prst="roundRect">
            <a:avLst>
              <a:gd name="adj" fmla="val 16842"/>
            </a:avLst>
          </a:prstGeom>
          <a:solidFill>
            <a:srgbClr val="121A38">
              <a:alpha val="80000"/>
            </a:srgbClr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4617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models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27064" y="4617720"/>
            <a:ext cx="2560320" cy="868680"/>
          </a:xfrm>
          <a:prstGeom prst="roundRect">
            <a:avLst>
              <a:gd name="adj" fmla="val 16842"/>
            </a:avLst>
          </a:prstGeom>
          <a:solidFill>
            <a:srgbClr val="121A38">
              <a:alpha val="80000"/>
            </a:srgbClr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7064" y="4617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stacks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997696" y="4617720"/>
            <a:ext cx="2560320" cy="868680"/>
          </a:xfrm>
          <a:prstGeom prst="roundRect">
            <a:avLst>
              <a:gd name="adj" fmla="val 16842"/>
            </a:avLst>
          </a:prstGeom>
          <a:solidFill>
            <a:srgbClr val="121A38">
              <a:alpha val="80000"/>
            </a:srgbClr>
          </a:solidFill>
          <a:ln w="1651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97696" y="4617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input types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CodeSage AI  ·  a coding assistant that knows what it is for.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CodeSage AI</dc:title>
  <dc:subject>PptxGenJS Presentation</dc:subject>
  <dc:creator>Mir Hadi Ali</dc:creator>
  <cp:lastModifiedBy>Mir Hadi Ali</cp:lastModifiedBy>
  <cp:revision>1</cp:revision>
  <dcterms:created xsi:type="dcterms:W3CDTF">2026-09-05T14:15:53Z</dcterms:created>
  <dcterms:modified xsi:type="dcterms:W3CDTF">2026-09-05T14:15:53Z</dcterms:modified>
</cp:coreProperties>
</file>